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handoutMasterIdLst>
    <p:handoutMasterId r:id="rId7"/>
  </p:handoutMasterIdLst>
  <p:sldIdLst>
    <p:sldId id="256" r:id="rId5"/>
  </p:sldIdLst>
  <p:sldSz cx="43891200" cy="329184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8456" autoAdjust="0"/>
    <p:restoredTop sz="94660"/>
  </p:normalViewPr>
  <p:slideViewPr>
    <p:cSldViewPr snapToGrid="0">
      <p:cViewPr>
        <p:scale>
          <a:sx n="25" d="100"/>
          <a:sy n="25" d="100"/>
        </p:scale>
        <p:origin x="60" y="-2298"/>
      </p:cViewPr>
      <p:guideLst/>
    </p:cSldViewPr>
  </p:slideViewPr>
  <p:notesTextViewPr>
    <p:cViewPr>
      <p:scale>
        <a:sx n="1" d="1"/>
        <a:sy n="1" d="1"/>
      </p:scale>
      <p:origin x="0" y="0"/>
    </p:cViewPr>
  </p:notesTextViewPr>
  <p:notesViewPr>
    <p:cSldViewPr snapToGrid="0" showGuides="1">
      <p:cViewPr varScale="1">
        <p:scale>
          <a:sx n="69" d="100"/>
          <a:sy n="69" d="100"/>
        </p:scale>
        <p:origin x="2706"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C0B079-A316-4C9B-B165-DF9EA8325D2C}" type="datetimeFigureOut">
              <a:rPr lang="en-US" smtClean="0"/>
              <a:t>7/13/2024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A0EAE6-B4B6-49B7-9049-B371250BE0F4}" type="slidenum">
              <a:rPr lang="en-US" smtClean="0"/>
              <a:t>‹#›</a:t>
            </a:fld>
            <a:endParaRPr lang="en-US"/>
          </a:p>
        </p:txBody>
      </p:sp>
    </p:spTree>
    <p:extLst>
      <p:ext uri="{BB962C8B-B14F-4D97-AF65-F5344CB8AC3E}">
        <p14:creationId xmlns:p14="http://schemas.microsoft.com/office/powerpoint/2010/main" val="1472466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28AB8-57D1-494F-9851-055AD867E790}" type="datetimeFigureOut">
              <a:rPr lang="en-US" smtClean="0"/>
              <a:t>7/13/2024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7F044-5458-4B2E-BFA0-52AAA1C529D4}" type="slidenum">
              <a:rPr lang="en-US" smtClean="0"/>
              <a:t>‹#›</a:t>
            </a:fld>
            <a:endParaRPr lang="en-US"/>
          </a:p>
        </p:txBody>
      </p:sp>
    </p:spTree>
    <p:extLst>
      <p:ext uri="{BB962C8B-B14F-4D97-AF65-F5344CB8AC3E}">
        <p14:creationId xmlns:p14="http://schemas.microsoft.com/office/powerpoint/2010/main" val="1624808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32" name="Instructions"/>
          <p:cNvSpPr/>
          <p:nvPr userDrawn="1"/>
        </p:nvSpPr>
        <p:spPr>
          <a:xfrm>
            <a:off x="44302680" y="-1"/>
            <a:ext cx="1244727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rIns="274320" rtlCol="0" anchor="t"/>
          <a:lstStyle/>
          <a:p>
            <a:pPr lvl="0">
              <a:spcBef>
                <a:spcPts val="1200"/>
              </a:spcBef>
            </a:pPr>
            <a:r>
              <a:rPr sz="9600" dirty="0">
                <a:solidFill>
                  <a:prstClr val="white">
                    <a:lumMod val="50000"/>
                  </a:prstClr>
                </a:solidFill>
                <a:latin typeface="Calibri Light" panose="020F0302020204030204" pitchFamily="34" charset="0"/>
                <a:cs typeface="Calibri" panose="020F0502020204030204" pitchFamily="34" charset="0"/>
              </a:rPr>
              <a:t>Printing:</a:t>
            </a:r>
          </a:p>
          <a:p>
            <a:pPr lvl="0">
              <a:spcBef>
                <a:spcPts val="1200"/>
              </a:spcBef>
            </a:pPr>
            <a:r>
              <a:rPr lang="en-US" sz="6600" dirty="0">
                <a:solidFill>
                  <a:prstClr val="white">
                    <a:lumMod val="50000"/>
                  </a:prstClr>
                </a:solidFill>
                <a:latin typeface="Calibri Light" panose="020F0302020204030204" pitchFamily="34" charset="0"/>
                <a:cs typeface="Calibri" panose="020F0502020204030204" pitchFamily="34" charset="0"/>
              </a:rPr>
              <a:t>This poster is 48” wide by 36” high. It’s designed to be printed on a large-format printer.</a:t>
            </a:r>
          </a:p>
          <a:p>
            <a:pPr lvl="0">
              <a:spcBef>
                <a:spcPts val="300"/>
              </a:spcBef>
            </a:pPr>
            <a:endParaRPr sz="6000" dirty="0">
              <a:solidFill>
                <a:prstClr val="white">
                  <a:lumMod val="50000"/>
                </a:prstClr>
              </a:solidFill>
              <a:latin typeface="Calibri Light" panose="020F0302020204030204" pitchFamily="34" charset="0"/>
              <a:cs typeface="Calibri" panose="020F0502020204030204" pitchFamily="34" charset="0"/>
            </a:endParaRPr>
          </a:p>
          <a:p>
            <a:pPr lvl="0">
              <a:spcBef>
                <a:spcPts val="1200"/>
              </a:spcBef>
            </a:pPr>
            <a:r>
              <a:rPr sz="8800" dirty="0">
                <a:solidFill>
                  <a:prstClr val="white">
                    <a:lumMod val="50000"/>
                  </a:prstClr>
                </a:solidFill>
                <a:latin typeface="Calibri Light" panose="020F0302020204030204" pitchFamily="34" charset="0"/>
                <a:cs typeface="Calibri" panose="020F0502020204030204" pitchFamily="34" charset="0"/>
              </a:rPr>
              <a:t>Customizing the Content:</a:t>
            </a:r>
          </a:p>
          <a:p>
            <a:pPr lvl="0">
              <a:spcBef>
                <a:spcPts val="1200"/>
              </a:spcBef>
            </a:pPr>
            <a:r>
              <a:rPr sz="6600" dirty="0">
                <a:solidFill>
                  <a:prstClr val="white">
                    <a:lumMod val="50000"/>
                  </a:prstClr>
                </a:solidFill>
                <a:latin typeface="Calibri Light" panose="020F0302020204030204" pitchFamily="34" charset="0"/>
                <a:cs typeface="Calibri" panose="020F0502020204030204" pitchFamily="34" charset="0"/>
              </a:rPr>
              <a:t>The placeholders in this </a:t>
            </a:r>
            <a:r>
              <a:rPr lang="en-US" sz="6600" dirty="0">
                <a:solidFill>
                  <a:prstClr val="white">
                    <a:lumMod val="50000"/>
                  </a:prstClr>
                </a:solidFill>
                <a:latin typeface="Calibri Light" panose="020F0302020204030204" pitchFamily="34" charset="0"/>
                <a:cs typeface="Calibri" panose="020F0502020204030204" pitchFamily="34" charset="0"/>
              </a:rPr>
              <a:t>poster </a:t>
            </a:r>
            <a:r>
              <a:rPr sz="6600" dirty="0">
                <a:solidFill>
                  <a:prstClr val="white">
                    <a:lumMod val="50000"/>
                  </a:prstClr>
                </a:solidFill>
                <a:latin typeface="Calibri Light" panose="020F0302020204030204" pitchFamily="34" charset="0"/>
                <a:cs typeface="Calibri" panose="020F0502020204030204" pitchFamily="34" charset="0"/>
              </a:rPr>
              <a:t>are formatted for you. </a:t>
            </a:r>
            <a:r>
              <a:rPr lang="en-US" sz="6600" dirty="0">
                <a:solidFill>
                  <a:prstClr val="white">
                    <a:lumMod val="50000"/>
                  </a:prstClr>
                </a:solidFill>
                <a:latin typeface="Calibri Light" panose="020F0302020204030204" pitchFamily="34" charset="0"/>
                <a:cs typeface="Calibri" panose="020F0502020204030204" pitchFamily="34" charset="0"/>
              </a:rPr>
              <a:t>Type</a:t>
            </a:r>
            <a:r>
              <a:rPr lang="en-US" sz="6600" baseline="0" dirty="0">
                <a:solidFill>
                  <a:prstClr val="white">
                    <a:lumMod val="50000"/>
                  </a:prstClr>
                </a:solidFill>
                <a:latin typeface="Calibri Light" panose="020F0302020204030204" pitchFamily="34" charset="0"/>
                <a:cs typeface="Calibri" panose="020F0502020204030204" pitchFamily="34" charset="0"/>
              </a:rPr>
              <a:t> in the placeholders </a:t>
            </a:r>
            <a:r>
              <a:rPr lang="en-US" sz="6600" dirty="0">
                <a:solidFill>
                  <a:prstClr val="white">
                    <a:lumMod val="50000"/>
                  </a:prstClr>
                </a:solidFill>
                <a:latin typeface="Calibri Light" panose="020F0302020204030204" pitchFamily="34" charset="0"/>
                <a:cs typeface="Calibri" panose="020F0502020204030204" pitchFamily="34" charset="0"/>
              </a:rPr>
              <a:t>to add text, or c</a:t>
            </a:r>
            <a:r>
              <a:rPr lang="en-US" sz="6600" baseline="0" dirty="0">
                <a:solidFill>
                  <a:prstClr val="white">
                    <a:lumMod val="50000"/>
                  </a:prstClr>
                </a:solidFill>
                <a:latin typeface="Calibri Light" panose="020F0302020204030204" pitchFamily="34" charset="0"/>
                <a:cs typeface="Calibri" panose="020F0502020204030204" pitchFamily="34" charset="0"/>
              </a:rPr>
              <a:t>lick an icon to add a table, chart, SmartArt graphic, picture or multimedia file.</a:t>
            </a:r>
          </a:p>
          <a:p>
            <a:pPr lvl="0">
              <a:spcBef>
                <a:spcPts val="2400"/>
              </a:spcBef>
            </a:pPr>
            <a:r>
              <a:rPr lang="en-US" sz="6600" dirty="0">
                <a:solidFill>
                  <a:prstClr val="white">
                    <a:lumMod val="50000"/>
                  </a:prstClr>
                </a:solidFill>
                <a:latin typeface="Calibri Light" panose="020F0302020204030204" pitchFamily="34" charset="0"/>
                <a:cs typeface="Calibri" panose="020F0502020204030204" pitchFamily="34" charset="0"/>
              </a:rPr>
              <a:t>T</a:t>
            </a:r>
            <a:r>
              <a:rPr sz="6600" dirty="0">
                <a:solidFill>
                  <a:prstClr val="white">
                    <a:lumMod val="50000"/>
                  </a:prstClr>
                </a:solidFill>
                <a:latin typeface="Calibri Light" panose="020F0302020204030204" pitchFamily="34" charset="0"/>
                <a:cs typeface="Calibri" panose="020F0502020204030204" pitchFamily="34" charset="0"/>
              </a:rPr>
              <a:t>o add or remove bullet points from text, click the Bullets button on the Home tab.</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If you need more placeholders for titles, </a:t>
            </a:r>
            <a:r>
              <a:rPr lang="en-US" sz="6600" dirty="0">
                <a:solidFill>
                  <a:prstClr val="white">
                    <a:lumMod val="50000"/>
                  </a:prstClr>
                </a:solidFill>
                <a:latin typeface="Calibri Light" panose="020F0302020204030204" pitchFamily="34" charset="0"/>
                <a:cs typeface="Calibri" panose="020F0502020204030204" pitchFamily="34" charset="0"/>
              </a:rPr>
              <a:t>content</a:t>
            </a:r>
            <a:r>
              <a:rPr sz="6600" dirty="0">
                <a:solidFill>
                  <a:prstClr val="white">
                    <a:lumMod val="50000"/>
                  </a:prstClr>
                </a:solidFill>
                <a:latin typeface="Calibri Light" panose="020F0302020204030204" pitchFamily="34" charset="0"/>
                <a:cs typeface="Calibri" panose="020F0502020204030204" pitchFamily="34" charset="0"/>
              </a:rPr>
              <a:t> or body text, make a copy of what you need and drag it into place. PowerPoint’s Smart Guides will help you align it with everything else.</a:t>
            </a:r>
          </a:p>
          <a:p>
            <a:pPr lvl="0">
              <a:spcBef>
                <a:spcPts val="2400"/>
              </a:spcBef>
            </a:pPr>
            <a:r>
              <a:rPr sz="6600" dirty="0">
                <a:solidFill>
                  <a:prstClr val="white">
                    <a:lumMod val="50000"/>
                  </a:prstClr>
                </a:solidFill>
                <a:latin typeface="Calibri Light" panose="020F0302020204030204" pitchFamily="34" charset="0"/>
                <a:cs typeface="Calibri" panose="020F0502020204030204" pitchFamily="34" charset="0"/>
              </a:rPr>
              <a:t>Want to use your own picture</a:t>
            </a:r>
            <a:r>
              <a:rPr lang="en-US" sz="6600" dirty="0">
                <a:solidFill>
                  <a:prstClr val="white">
                    <a:lumMod val="50000"/>
                  </a:prstClr>
                </a:solidFill>
                <a:latin typeface="Calibri Light" panose="020F0302020204030204" pitchFamily="34" charset="0"/>
                <a:cs typeface="Calibri" panose="020F0502020204030204" pitchFamily="34" charset="0"/>
              </a:rPr>
              <a:t>s</a:t>
            </a:r>
            <a:r>
              <a:rPr sz="6600" dirty="0">
                <a:solidFill>
                  <a:prstClr val="white">
                    <a:lumMod val="50000"/>
                  </a:prstClr>
                </a:solidFill>
                <a:latin typeface="Calibri Light" panose="020F0302020204030204" pitchFamily="34" charset="0"/>
                <a:cs typeface="Calibri" panose="020F0502020204030204" pitchFamily="34" charset="0"/>
              </a:rPr>
              <a:t> instead of ours? No problem!</a:t>
            </a:r>
            <a:r>
              <a:rPr lang="en-US" sz="6600" dirty="0">
                <a:solidFill>
                  <a:prstClr val="white">
                    <a:lumMod val="50000"/>
                  </a:prstClr>
                </a:solidFill>
                <a:latin typeface="Calibri Light" panose="020F0302020204030204" pitchFamily="34" charset="0"/>
                <a:cs typeface="Calibri" panose="020F0502020204030204" pitchFamily="34" charset="0"/>
              </a:rPr>
              <a:t> Just click a picture, press the Delete key, then click the icon to add your picture.</a:t>
            </a:r>
            <a:endParaRPr sz="6600" dirty="0">
              <a:solidFill>
                <a:prstClr val="white">
                  <a:lumMod val="50000"/>
                </a:prstClr>
              </a:solidFill>
              <a:latin typeface="Calibri Light" panose="020F0302020204030204" pitchFamily="34" charset="0"/>
              <a:cs typeface="Calibri" panose="020F0502020204030204" pitchFamily="34" charset="0"/>
            </a:endParaRPr>
          </a:p>
        </p:txBody>
      </p:sp>
      <p:sp>
        <p:nvSpPr>
          <p:cNvPr id="6" name="Title 5"/>
          <p:cNvSpPr>
            <a:spLocks noGrp="1"/>
          </p:cNvSpPr>
          <p:nvPr>
            <p:ph type="title"/>
          </p:nvPr>
        </p:nvSpPr>
        <p:spPr/>
        <p:txBody>
          <a:bodyPr/>
          <a:lstStyle/>
          <a:p>
            <a:r>
              <a:rPr lang="en-US"/>
              <a:t>Click to edit Master title style</a:t>
            </a:r>
          </a:p>
        </p:txBody>
      </p:sp>
      <p:sp>
        <p:nvSpPr>
          <p:cNvPr id="31" name="Text Placeholder 6"/>
          <p:cNvSpPr>
            <a:spLocks noGrp="1"/>
          </p:cNvSpPr>
          <p:nvPr>
            <p:ph type="body" sz="quarter" idx="36"/>
          </p:nvPr>
        </p:nvSpPr>
        <p:spPr bwMode="auto">
          <a:xfrm>
            <a:off x="1158240" y="4093905"/>
            <a:ext cx="30174412" cy="646331"/>
          </a:xfrm>
        </p:spPr>
        <p:txBody>
          <a:bodyPr anchor="ctr">
            <a:noAutofit/>
          </a:bodyPr>
          <a:lstStyle>
            <a:lvl1pPr marL="0" indent="0">
              <a:spcBef>
                <a:spcPts val="0"/>
              </a:spcBef>
              <a:buNone/>
              <a:defRPr sz="3600">
                <a:solidFill>
                  <a:schemeClr val="bg1">
                    <a:lumMod val="75000"/>
                  </a:schemeClr>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7" name="Text Placeholder 6"/>
          <p:cNvSpPr>
            <a:spLocks noGrp="1"/>
          </p:cNvSpPr>
          <p:nvPr>
            <p:ph type="body" sz="quarter" idx="13" hasCustomPrompt="1"/>
          </p:nvPr>
        </p:nvSpPr>
        <p:spPr>
          <a:xfrm>
            <a:off x="1143000" y="5669280"/>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9" name="Text Placeholder 8"/>
          <p:cNvSpPr>
            <a:spLocks noGrp="1"/>
          </p:cNvSpPr>
          <p:nvPr>
            <p:ph type="body" sz="quarter" idx="39" hasCustomPrompt="1"/>
          </p:nvPr>
        </p:nvSpPr>
        <p:spPr bwMode="ltGray">
          <a:xfrm>
            <a:off x="1143000" y="7114032"/>
            <a:ext cx="12801600" cy="2732574"/>
          </a:xfrm>
          <a:solidFill>
            <a:schemeClr val="tx2">
              <a:lumMod val="10000"/>
              <a:lumOff val="90000"/>
            </a:schemeClr>
          </a:solidFill>
        </p:spPr>
        <p:txBody>
          <a:bodyPr lIns="365760" rIns="365760" anchor="ctr">
            <a:noAutofit/>
          </a:bodyPr>
          <a:lstStyle>
            <a:lvl1pPr marL="0" indent="0">
              <a:spcBef>
                <a:spcPts val="1200"/>
              </a:spcBef>
              <a:buFont typeface="Arial" panose="020B0604020202020204" pitchFamily="34" charset="0"/>
              <a:buNone/>
              <a:defRPr sz="4400" baseline="0"/>
            </a:lvl1pPr>
            <a:lvl2pPr marL="571500" indent="-571500">
              <a:spcBef>
                <a:spcPts val="1200"/>
              </a:spcBef>
              <a:buFont typeface="Arial" panose="020B0604020202020204" pitchFamily="34" charset="0"/>
              <a:buChar char="•"/>
              <a:defRPr sz="4400"/>
            </a:lvl2pPr>
            <a:lvl3pPr marL="571500" indent="-571500">
              <a:spcBef>
                <a:spcPts val="1200"/>
              </a:spcBef>
              <a:buFont typeface="Arial" panose="020B0604020202020204" pitchFamily="34" charset="0"/>
              <a:buChar char="•"/>
              <a:defRPr sz="4400"/>
            </a:lvl3pPr>
            <a:lvl4pPr marL="0" indent="0">
              <a:spcBef>
                <a:spcPts val="1200"/>
              </a:spcBef>
              <a:buNone/>
              <a:defRPr sz="4400"/>
            </a:lvl4pPr>
            <a:lvl5pPr marL="0" indent="0">
              <a:spcBef>
                <a:spcPts val="1200"/>
              </a:spcBef>
              <a:buNone/>
              <a:defRPr sz="4400"/>
            </a:lvl5pPr>
            <a:lvl6pPr marL="0" indent="0">
              <a:spcBef>
                <a:spcPts val="1200"/>
              </a:spcBef>
              <a:buNone/>
              <a:defRPr sz="4400"/>
            </a:lvl6pPr>
            <a:lvl7pPr marL="0" indent="0">
              <a:spcBef>
                <a:spcPts val="1200"/>
              </a:spcBef>
              <a:buNone/>
              <a:defRPr sz="4400"/>
            </a:lvl7pPr>
            <a:lvl8pPr marL="0" indent="0">
              <a:spcBef>
                <a:spcPts val="1200"/>
              </a:spcBef>
              <a:buNone/>
              <a:defRPr sz="4400"/>
            </a:lvl8pPr>
            <a:lvl9pPr marL="0" indent="0">
              <a:spcBef>
                <a:spcPts val="1200"/>
              </a:spcBef>
              <a:buNone/>
              <a:defRPr sz="4400"/>
            </a:lvl9pPr>
          </a:lstStyle>
          <a:p>
            <a:pPr lvl="0"/>
            <a:r>
              <a:rPr lang="en-US" dirty="0"/>
              <a:t>Type your question or a statement of the problem here</a:t>
            </a:r>
          </a:p>
        </p:txBody>
      </p:sp>
      <p:sp>
        <p:nvSpPr>
          <p:cNvPr id="36" name="Text Placeholder 6"/>
          <p:cNvSpPr>
            <a:spLocks noGrp="1"/>
          </p:cNvSpPr>
          <p:nvPr>
            <p:ph type="body" sz="quarter" idx="37" hasCustomPrompt="1"/>
          </p:nvPr>
        </p:nvSpPr>
        <p:spPr>
          <a:xfrm>
            <a:off x="1143000" y="10497312"/>
            <a:ext cx="12801600" cy="128016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7" name="Content Placeholder 17"/>
          <p:cNvSpPr>
            <a:spLocks noGrp="1"/>
          </p:cNvSpPr>
          <p:nvPr>
            <p:ph sz="quarter" idx="38" hasCustomPrompt="1"/>
          </p:nvPr>
        </p:nvSpPr>
        <p:spPr>
          <a:xfrm>
            <a:off x="1143000" y="11868912"/>
            <a:ext cx="12801600" cy="280750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11" name="Text Placeholder 6"/>
          <p:cNvSpPr>
            <a:spLocks noGrp="1"/>
          </p:cNvSpPr>
          <p:nvPr>
            <p:ph type="body" sz="quarter" idx="17" hasCustomPrompt="1"/>
          </p:nvPr>
        </p:nvSpPr>
        <p:spPr>
          <a:xfrm>
            <a:off x="1143000" y="1495044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0" name="Content Placeholder 17"/>
          <p:cNvSpPr>
            <a:spLocks noGrp="1"/>
          </p:cNvSpPr>
          <p:nvPr>
            <p:ph sz="quarter" idx="25" hasCustomPrompt="1"/>
          </p:nvPr>
        </p:nvSpPr>
        <p:spPr>
          <a:xfrm>
            <a:off x="1143000" y="16440912"/>
            <a:ext cx="12801600" cy="6027461"/>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3" name="Text Placeholder 6"/>
          <p:cNvSpPr>
            <a:spLocks noGrp="1"/>
          </p:cNvSpPr>
          <p:nvPr>
            <p:ph type="body" sz="quarter" idx="19" hasCustomPrompt="1"/>
          </p:nvPr>
        </p:nvSpPr>
        <p:spPr>
          <a:xfrm>
            <a:off x="11430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1" name="Content Placeholder 17"/>
          <p:cNvSpPr>
            <a:spLocks noGrp="1"/>
          </p:cNvSpPr>
          <p:nvPr>
            <p:ph sz="quarter" idx="26" hasCustomPrompt="1"/>
          </p:nvPr>
        </p:nvSpPr>
        <p:spPr>
          <a:xfrm>
            <a:off x="11430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15" name="Text Placeholder 6"/>
          <p:cNvSpPr>
            <a:spLocks noGrp="1"/>
          </p:cNvSpPr>
          <p:nvPr>
            <p:ph type="body" sz="quarter" idx="21" hasCustomPrompt="1"/>
          </p:nvPr>
        </p:nvSpPr>
        <p:spPr>
          <a:xfrm>
            <a:off x="1554480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2" name="Content Placeholder 17"/>
          <p:cNvSpPr>
            <a:spLocks noGrp="1"/>
          </p:cNvSpPr>
          <p:nvPr>
            <p:ph sz="quarter" idx="27" hasCustomPrompt="1"/>
          </p:nvPr>
        </p:nvSpPr>
        <p:spPr>
          <a:xfrm>
            <a:off x="15544800" y="7114032"/>
            <a:ext cx="12801600" cy="679555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38" name="Text Placeholder 6"/>
          <p:cNvSpPr>
            <a:spLocks noGrp="1"/>
          </p:cNvSpPr>
          <p:nvPr>
            <p:ph type="body" sz="quarter" idx="40" hasCustomPrompt="1"/>
          </p:nvPr>
        </p:nvSpPr>
        <p:spPr>
          <a:xfrm>
            <a:off x="15544800" y="14328648"/>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18" name="Content Placeholder 17"/>
          <p:cNvSpPr>
            <a:spLocks noGrp="1"/>
          </p:cNvSpPr>
          <p:nvPr>
            <p:ph sz="quarter" idx="23" hasCustomPrompt="1"/>
          </p:nvPr>
        </p:nvSpPr>
        <p:spPr>
          <a:xfrm>
            <a:off x="15544800" y="15773399"/>
            <a:ext cx="12801600" cy="6694973"/>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4" name="Text Placeholder 6"/>
          <p:cNvSpPr>
            <a:spLocks noGrp="1"/>
          </p:cNvSpPr>
          <p:nvPr>
            <p:ph type="body" sz="quarter" idx="29" hasCustomPrompt="1"/>
          </p:nvPr>
        </p:nvSpPr>
        <p:spPr>
          <a:xfrm>
            <a:off x="15544800" y="2288743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5" name="Content Placeholder 17"/>
          <p:cNvSpPr>
            <a:spLocks noGrp="1"/>
          </p:cNvSpPr>
          <p:nvPr>
            <p:ph sz="quarter" idx="30" hasCustomPrompt="1"/>
          </p:nvPr>
        </p:nvSpPr>
        <p:spPr>
          <a:xfrm>
            <a:off x="15544800" y="24332184"/>
            <a:ext cx="12801600" cy="729691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6" name="Text Placeholder 6"/>
          <p:cNvSpPr>
            <a:spLocks noGrp="1"/>
          </p:cNvSpPr>
          <p:nvPr>
            <p:ph type="body" sz="quarter" idx="31" hasCustomPrompt="1"/>
          </p:nvPr>
        </p:nvSpPr>
        <p:spPr>
          <a:xfrm>
            <a:off x="29900880" y="5669280"/>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27" name="Content Placeholder 17"/>
          <p:cNvSpPr>
            <a:spLocks noGrp="1"/>
          </p:cNvSpPr>
          <p:nvPr>
            <p:ph sz="quarter" idx="32" hasCustomPrompt="1"/>
          </p:nvPr>
        </p:nvSpPr>
        <p:spPr>
          <a:xfrm>
            <a:off x="29900880" y="7114032"/>
            <a:ext cx="12801600" cy="731520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p>
        </p:txBody>
      </p:sp>
      <p:sp>
        <p:nvSpPr>
          <p:cNvPr id="28" name="Content Placeholder 17"/>
          <p:cNvSpPr>
            <a:spLocks noGrp="1"/>
          </p:cNvSpPr>
          <p:nvPr>
            <p:ph sz="quarter" idx="33" hasCustomPrompt="1"/>
          </p:nvPr>
        </p:nvSpPr>
        <p:spPr>
          <a:xfrm>
            <a:off x="29900880" y="14914834"/>
            <a:ext cx="12801600" cy="4538610"/>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39" name="Text Placeholder 6"/>
          <p:cNvSpPr>
            <a:spLocks noGrp="1"/>
          </p:cNvSpPr>
          <p:nvPr>
            <p:ph type="body" sz="quarter" idx="41" hasCustomPrompt="1"/>
          </p:nvPr>
        </p:nvSpPr>
        <p:spPr>
          <a:xfrm>
            <a:off x="29900880" y="19767596"/>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40" name="Content Placeholder 17"/>
          <p:cNvSpPr>
            <a:spLocks noGrp="1"/>
          </p:cNvSpPr>
          <p:nvPr>
            <p:ph sz="quarter" idx="42" hasCustomPrompt="1"/>
          </p:nvPr>
        </p:nvSpPr>
        <p:spPr>
          <a:xfrm>
            <a:off x="29900880" y="21212348"/>
            <a:ext cx="12801600" cy="4344786"/>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p:txBody>
      </p:sp>
      <p:sp>
        <p:nvSpPr>
          <p:cNvPr id="29" name="Text Placeholder 6"/>
          <p:cNvSpPr>
            <a:spLocks noGrp="1"/>
          </p:cNvSpPr>
          <p:nvPr>
            <p:ph type="body" sz="quarter" idx="34" hasCustomPrompt="1"/>
          </p:nvPr>
        </p:nvSpPr>
        <p:spPr>
          <a:xfrm>
            <a:off x="29900880" y="25722072"/>
            <a:ext cx="12801600" cy="1219200"/>
          </a:xfrm>
          <a:prstGeom prst="rect">
            <a:avLst/>
          </a:prstGeom>
          <a:gradFill>
            <a:gsLst>
              <a:gs pos="0">
                <a:schemeClr val="tx1">
                  <a:lumMod val="65000"/>
                  <a:lumOff val="35000"/>
                </a:schemeClr>
              </a:gs>
              <a:gs pos="91000">
                <a:schemeClr val="accent1"/>
              </a:gs>
              <a:gs pos="90000">
                <a:schemeClr val="tx1">
                  <a:lumMod val="65000"/>
                  <a:lumOff val="35000"/>
                </a:schemeClr>
              </a:gs>
              <a:gs pos="100000">
                <a:schemeClr val="accent1"/>
              </a:gs>
            </a:gsLst>
            <a:lin ang="5400000" scaled="1"/>
          </a:gradFill>
        </p:spPr>
        <p:txBody>
          <a:bodyPr lIns="365760" anchor="ctr">
            <a:noAutofit/>
          </a:bodyPr>
          <a:lstStyle>
            <a:lvl1pPr marL="0" indent="0" algn="ctr">
              <a:spcBef>
                <a:spcPts val="0"/>
              </a:spcBef>
              <a:buNone/>
              <a:defRPr sz="5400" cap="none" baseline="0">
                <a:solidFill>
                  <a:schemeClr val="bg1"/>
                </a:solidFill>
                <a:latin typeface="+mj-lt"/>
              </a:defRPr>
            </a:lvl1pPr>
            <a:lvl2pPr marL="0" indent="0">
              <a:spcBef>
                <a:spcPts val="0"/>
              </a:spcBef>
              <a:buNone/>
              <a:defRPr sz="6000" cap="all" baseline="0">
                <a:solidFill>
                  <a:schemeClr val="bg1"/>
                </a:solidFill>
                <a:latin typeface="+mj-lt"/>
              </a:defRPr>
            </a:lvl2pPr>
            <a:lvl3pPr marL="0" indent="0">
              <a:spcBef>
                <a:spcPts val="0"/>
              </a:spcBef>
              <a:buNone/>
              <a:defRPr sz="6000" cap="all" baseline="0">
                <a:solidFill>
                  <a:schemeClr val="bg1"/>
                </a:solidFill>
                <a:latin typeface="+mj-lt"/>
              </a:defRPr>
            </a:lvl3pPr>
            <a:lvl4pPr marL="0" indent="0">
              <a:spcBef>
                <a:spcPts val="0"/>
              </a:spcBef>
              <a:buNone/>
              <a:defRPr sz="6000" cap="all" baseline="0">
                <a:solidFill>
                  <a:schemeClr val="bg1"/>
                </a:solidFill>
                <a:latin typeface="+mj-lt"/>
              </a:defRPr>
            </a:lvl4pPr>
            <a:lvl5pPr marL="0" indent="0">
              <a:spcBef>
                <a:spcPts val="0"/>
              </a:spcBef>
              <a:buNone/>
              <a:defRPr sz="6000" cap="all" baseline="0">
                <a:solidFill>
                  <a:schemeClr val="bg1"/>
                </a:solidFill>
                <a:latin typeface="+mj-lt"/>
              </a:defRPr>
            </a:lvl5pPr>
            <a:lvl6pPr marL="0" indent="0">
              <a:spcBef>
                <a:spcPts val="0"/>
              </a:spcBef>
              <a:buNone/>
              <a:defRPr sz="6000" cap="all" baseline="0">
                <a:solidFill>
                  <a:schemeClr val="bg1"/>
                </a:solidFill>
                <a:latin typeface="+mj-lt"/>
              </a:defRPr>
            </a:lvl6pPr>
            <a:lvl7pPr marL="0" indent="0">
              <a:spcBef>
                <a:spcPts val="0"/>
              </a:spcBef>
              <a:buNone/>
              <a:defRPr sz="6000" cap="all" baseline="0">
                <a:solidFill>
                  <a:schemeClr val="bg1"/>
                </a:solidFill>
                <a:latin typeface="+mj-lt"/>
              </a:defRPr>
            </a:lvl7pPr>
            <a:lvl8pPr marL="0" indent="0">
              <a:spcBef>
                <a:spcPts val="0"/>
              </a:spcBef>
              <a:buNone/>
              <a:defRPr sz="6000" cap="all" baseline="0">
                <a:solidFill>
                  <a:schemeClr val="bg1"/>
                </a:solidFill>
                <a:latin typeface="+mj-lt"/>
              </a:defRPr>
            </a:lvl8pPr>
            <a:lvl9pPr marL="0" indent="0">
              <a:spcBef>
                <a:spcPts val="0"/>
              </a:spcBef>
              <a:buNone/>
              <a:defRPr sz="6000" cap="all" baseline="0">
                <a:solidFill>
                  <a:schemeClr val="bg1"/>
                </a:solidFill>
                <a:latin typeface="+mj-lt"/>
              </a:defRPr>
            </a:lvl9pPr>
          </a:lstStyle>
          <a:p>
            <a:pPr lvl="0"/>
            <a:r>
              <a:rPr lang="en-US" dirty="0"/>
              <a:t>Heading</a:t>
            </a:r>
          </a:p>
        </p:txBody>
      </p:sp>
      <p:sp>
        <p:nvSpPr>
          <p:cNvPr id="30" name="Content Placeholder 17"/>
          <p:cNvSpPr>
            <a:spLocks noGrp="1"/>
          </p:cNvSpPr>
          <p:nvPr>
            <p:ph sz="quarter" idx="35" hasCustomPrompt="1"/>
          </p:nvPr>
        </p:nvSpPr>
        <p:spPr>
          <a:xfrm>
            <a:off x="29900880" y="27166824"/>
            <a:ext cx="12801600" cy="4462272"/>
          </a:xfrm>
        </p:spPr>
        <p:txBody>
          <a:bodyPr lIns="91440" tIns="182880"/>
          <a:lstStyle>
            <a:lvl1pPr>
              <a:defRPr sz="3200" baseline="0"/>
            </a:lvl1pPr>
            <a:lvl2pPr>
              <a:defRPr sz="2800"/>
            </a:lvl2pPr>
            <a:lvl3pPr>
              <a:defRPr sz="2800"/>
            </a:lvl3pPr>
            <a:lvl4pPr>
              <a:defRPr sz="2800"/>
            </a:lvl4pPr>
            <a:lvl5pPr>
              <a:defRPr sz="2800"/>
            </a:lvl5pPr>
            <a:lvl6pPr>
              <a:defRPr sz="2800"/>
            </a:lvl6pPr>
            <a:lvl7pPr>
              <a:defRPr sz="2800"/>
            </a:lvl7pPr>
            <a:lvl8pPr>
              <a:defRPr sz="2800"/>
            </a:lvl8pPr>
            <a:lvl9pPr>
              <a:defRPr sz="2800"/>
            </a:lvl9pPr>
          </a:lstStyle>
          <a:p>
            <a:pPr lvl="0"/>
            <a:r>
              <a:rPr lang="en-US" dirty="0"/>
              <a:t>Use this placeholder to add text or other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p:txBody>
      </p:sp>
      <p:sp>
        <p:nvSpPr>
          <p:cNvPr id="3" name="Date Placeholder 2"/>
          <p:cNvSpPr>
            <a:spLocks noGrp="1"/>
          </p:cNvSpPr>
          <p:nvPr>
            <p:ph type="dt" sz="half" idx="10"/>
          </p:nvPr>
        </p:nvSpPr>
        <p:spPr/>
        <p:txBody>
          <a:bodyPr/>
          <a:lstStyle/>
          <a:p>
            <a:fld id="{ECAA57DF-1C19-4726-AB84-014692BAD8F5}" type="datetimeFigureOut">
              <a:rPr lang="en-US" smtClean="0"/>
              <a:t>7/13/2024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4C631-C489-4C11-812F-2172FBEAE82B}" type="slidenum">
              <a:rPr lang="en-US" smtClean="0"/>
              <a:t>‹#›</a:t>
            </a:fld>
            <a:endParaRPr lang="en-US"/>
          </a:p>
        </p:txBody>
      </p:sp>
      <p:sp>
        <p:nvSpPr>
          <p:cNvPr id="8" name="Picture Placeholder 7"/>
          <p:cNvSpPr>
            <a:spLocks noGrp="1"/>
          </p:cNvSpPr>
          <p:nvPr>
            <p:ph type="pic" sz="quarter" idx="43"/>
          </p:nvPr>
        </p:nvSpPr>
        <p:spPr>
          <a:xfrm>
            <a:off x="32270700" y="0"/>
            <a:ext cx="11620500" cy="3842445"/>
          </a:xfrm>
          <a:effectDag name="">
            <a:cont type="tree" name="">
              <a:effect ref="fillLine"/>
              <a:alphaMod>
                <a:cont name="">
                  <a:fill>
                    <a:gradFill>
                      <a:gsLst>
                        <a:gs pos="60000">
                          <a:srgbClr val="000000">
                            <a:alpha val="100000"/>
                          </a:srgbClr>
                        </a:gs>
                        <a:gs pos="97000">
                          <a:srgbClr val="000000">
                            <a:alpha val="0"/>
                          </a:srgbClr>
                        </a:gs>
                      </a:gsLst>
                      <a:lin ang="10800000"/>
                    </a:gradFill>
                  </a:fill>
                </a:cont>
              </a:alphaMod>
            </a:cont>
          </a:effectDag>
        </p:spPr>
        <p:txBody>
          <a:bodyPr lIns="91440" tIns="457200" rIns="91440"/>
          <a:lstStyle>
            <a:lvl1pPr marL="0" indent="0" algn="ctr">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45907722"/>
      </p:ext>
    </p:extLst>
  </p:cSld>
  <p:clrMapOvr>
    <a:masterClrMapping/>
  </p:clrMapOvr>
  <p:extLst>
    <p:ext uri="{DCECCB84-F9BA-43D5-87BE-67443E8EF086}">
      <p15:sldGuideLst xmlns:p15="http://schemas.microsoft.com/office/powerpoint/2012/main">
        <p15:guide id="1" pos="9168" userDrawn="1">
          <p15:clr>
            <a:srgbClr val="A4A3A4"/>
          </p15:clr>
        </p15:guide>
        <p15:guide id="2" pos="18480" userDrawn="1">
          <p15:clr>
            <a:srgbClr val="A4A3A4"/>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bwMode="ltGray">
          <a:xfrm>
            <a:off x="0" y="0"/>
            <a:ext cx="43891200" cy="5029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bwMode="auto">
          <a:xfrm>
            <a:off x="1158240" y="685860"/>
            <a:ext cx="30175200" cy="297174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158240" y="6019800"/>
            <a:ext cx="41589960" cy="236296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3000" y="32114698"/>
            <a:ext cx="9875520" cy="457200"/>
          </a:xfrm>
          <a:prstGeom prst="rect">
            <a:avLst/>
          </a:prstGeom>
        </p:spPr>
        <p:txBody>
          <a:bodyPr vert="horz" lIns="91440" tIns="45720" rIns="91440" bIns="45720" rtlCol="0" anchor="ctr"/>
          <a:lstStyle>
            <a:lvl1pPr algn="l">
              <a:defRPr sz="1600">
                <a:solidFill>
                  <a:schemeClr val="tx1">
                    <a:tint val="75000"/>
                  </a:schemeClr>
                </a:solidFill>
              </a:defRPr>
            </a:lvl1pPr>
          </a:lstStyle>
          <a:p>
            <a:fld id="{ECAA57DF-1C19-4726-AB84-014692BAD8F5}" type="datetimeFigureOut">
              <a:rPr lang="en-US" smtClean="0"/>
              <a:pPr/>
              <a:t>7/13/2024</a:t>
            </a:fld>
            <a:endParaRPr lang="en-US"/>
          </a:p>
        </p:txBody>
      </p:sp>
      <p:sp>
        <p:nvSpPr>
          <p:cNvPr id="5" name="Footer Placeholder 4"/>
          <p:cNvSpPr>
            <a:spLocks noGrp="1"/>
          </p:cNvSpPr>
          <p:nvPr>
            <p:ph type="ftr" sz="quarter" idx="3"/>
          </p:nvPr>
        </p:nvSpPr>
        <p:spPr>
          <a:xfrm>
            <a:off x="11018520" y="32114698"/>
            <a:ext cx="21854160" cy="4572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2872680" y="32114698"/>
            <a:ext cx="9875520" cy="457200"/>
          </a:xfrm>
          <a:prstGeom prst="rect">
            <a:avLst/>
          </a:prstGeom>
        </p:spPr>
        <p:txBody>
          <a:bodyPr vert="horz" lIns="91440" tIns="45720" rIns="91440" bIns="45720" rtlCol="0" anchor="ctr"/>
          <a:lstStyle>
            <a:lvl1pPr algn="r">
              <a:defRPr sz="1600">
                <a:solidFill>
                  <a:schemeClr val="tx1">
                    <a:tint val="75000"/>
                  </a:schemeClr>
                </a:solidFill>
              </a:defRPr>
            </a:lvl1pPr>
          </a:lstStyle>
          <a:p>
            <a:fld id="{91B4C631-C489-4C11-812F-2172FBEAE82B}" type="slidenum">
              <a:rPr lang="en-US" smtClean="0"/>
              <a:pPr/>
              <a:t>‹#›</a:t>
            </a:fld>
            <a:endParaRPr lang="en-US"/>
          </a:p>
        </p:txBody>
      </p:sp>
      <p:sp>
        <p:nvSpPr>
          <p:cNvPr id="8" name="Rectangle 7"/>
          <p:cNvSpPr/>
          <p:nvPr userDrawn="1"/>
        </p:nvSpPr>
        <p:spPr bwMode="gray">
          <a:xfrm>
            <a:off x="0" y="3886200"/>
            <a:ext cx="43891200" cy="1143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userDrawn="1"/>
        </p:nvCxnSpPr>
        <p:spPr>
          <a:xfrm>
            <a:off x="0" y="3886200"/>
            <a:ext cx="43891200" cy="0"/>
          </a:xfrm>
          <a:prstGeom prst="line">
            <a:avLst/>
          </a:prstGeom>
          <a:ln w="1143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80747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4389120" rtl="0" eaLnBrk="1" latinLnBrk="0" hangingPunct="1">
        <a:lnSpc>
          <a:spcPct val="90000"/>
        </a:lnSpc>
        <a:spcBef>
          <a:spcPct val="0"/>
        </a:spcBef>
        <a:buNone/>
        <a:defRPr sz="11500" b="0" kern="1200">
          <a:solidFill>
            <a:schemeClr val="bg1"/>
          </a:solidFill>
          <a:latin typeface="+mj-lt"/>
          <a:ea typeface="+mj-ea"/>
          <a:cs typeface="+mj-cs"/>
        </a:defRPr>
      </a:lvl1pPr>
    </p:titleStyle>
    <p:bodyStyle>
      <a:lvl1pPr marL="45720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800" kern="1200">
          <a:solidFill>
            <a:schemeClr val="tx1"/>
          </a:solidFill>
          <a:latin typeface="+mn-lt"/>
          <a:ea typeface="+mn-ea"/>
          <a:cs typeface="+mn-cs"/>
        </a:defRPr>
      </a:lvl1pPr>
      <a:lvl2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2pPr>
      <a:lvl3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3pPr>
      <a:lvl4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4pPr>
      <a:lvl5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5pPr>
      <a:lvl6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6pPr>
      <a:lvl7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7pPr>
      <a:lvl8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8pPr>
      <a:lvl9pPr marL="1097280" indent="-457200" algn="l" defTabSz="4389120" rtl="0" eaLnBrk="1" latinLnBrk="0" hangingPunct="1">
        <a:lnSpc>
          <a:spcPct val="100000"/>
        </a:lnSpc>
        <a:spcBef>
          <a:spcPts val="1200"/>
        </a:spcBef>
        <a:buClr>
          <a:schemeClr val="bg1">
            <a:lumMod val="65000"/>
          </a:schemeClr>
        </a:buClr>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A4A3A4"/>
          </p15:clr>
        </p15:guide>
        <p15:guide id="2" pos="720" userDrawn="1">
          <p15:clr>
            <a:srgbClr val="A4A3A4"/>
          </p15:clr>
        </p15:guide>
        <p15:guide id="3" pos="26928" userDrawn="1">
          <p15:clr>
            <a:srgbClr val="A4A3A4"/>
          </p15:clr>
        </p15:guide>
        <p15:guide id="4" pos="1382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7200" dirty="0"/>
              <a:t>Manipulation of light quality to regulate the photosynthetic and antioxidant capacity of ‘</a:t>
            </a:r>
            <a:r>
              <a:rPr lang="en-US" sz="7200" dirty="0" err="1"/>
              <a:t>Microtom</a:t>
            </a:r>
            <a:r>
              <a:rPr lang="en-US" sz="7200" dirty="0"/>
              <a:t>’ plant : A full experiment</a:t>
            </a:r>
          </a:p>
        </p:txBody>
      </p:sp>
      <p:sp>
        <p:nvSpPr>
          <p:cNvPr id="23" name="Text Placeholder 22"/>
          <p:cNvSpPr>
            <a:spLocks noGrp="1"/>
          </p:cNvSpPr>
          <p:nvPr>
            <p:ph type="body" sz="quarter" idx="36"/>
          </p:nvPr>
        </p:nvSpPr>
        <p:spPr/>
        <p:txBody>
          <a:bodyPr/>
          <a:lstStyle/>
          <a:p>
            <a:r>
              <a:rPr lang="en-US" b="1" dirty="0">
                <a:solidFill>
                  <a:schemeClr val="bg1"/>
                </a:solidFill>
              </a:rPr>
              <a:t>Name: BRUCE ODEK OMONDI / ID: 20074027 // Tutor: DR MARY KYNN // School: EECMS</a:t>
            </a:r>
          </a:p>
        </p:txBody>
      </p:sp>
      <p:sp>
        <p:nvSpPr>
          <p:cNvPr id="68" name="Text Placeholder 67"/>
          <p:cNvSpPr>
            <a:spLocks noGrp="1"/>
          </p:cNvSpPr>
          <p:nvPr>
            <p:ph type="body" sz="quarter" idx="37"/>
          </p:nvPr>
        </p:nvSpPr>
        <p:spPr>
          <a:xfrm>
            <a:off x="304800" y="5146061"/>
            <a:ext cx="12801600" cy="998077"/>
          </a:xfrm>
        </p:spPr>
        <p:txBody>
          <a:bodyPr/>
          <a:lstStyle/>
          <a:p>
            <a:r>
              <a:rPr lang="en-US" dirty="0"/>
              <a:t>Introduction</a:t>
            </a:r>
          </a:p>
        </p:txBody>
      </p:sp>
      <p:sp>
        <p:nvSpPr>
          <p:cNvPr id="11" name="Content Placeholder 10"/>
          <p:cNvSpPr>
            <a:spLocks noGrp="1"/>
          </p:cNvSpPr>
          <p:nvPr>
            <p:ph sz="quarter" idx="38"/>
          </p:nvPr>
        </p:nvSpPr>
        <p:spPr>
          <a:xfrm>
            <a:off x="1" y="6456702"/>
            <a:ext cx="13106399" cy="18023007"/>
          </a:xfrm>
        </p:spPr>
        <p:txBody>
          <a:bodyPr>
            <a:normAutofit fontScale="77500" lnSpcReduction="20000"/>
          </a:bodyPr>
          <a:lstStyle/>
          <a:p>
            <a:pPr>
              <a:lnSpc>
                <a:spcPct val="110000"/>
              </a:lnSpc>
            </a:pPr>
            <a:r>
              <a:rPr lang="en-US" sz="4100" dirty="0"/>
              <a:t>The original study aimed to investigate how manipulating the light source during the growth of </a:t>
            </a:r>
            <a:r>
              <a:rPr lang="en-US" sz="4100" dirty="0" err="1"/>
              <a:t>Microtom</a:t>
            </a:r>
            <a:r>
              <a:rPr lang="en-US" sz="4100" dirty="0"/>
              <a:t> plants would influence their photosynthetic activity and fruit bioactive synthesis, and how this would improve the plants’ physical performance and the nutritional value of their fruits.</a:t>
            </a:r>
          </a:p>
          <a:p>
            <a:r>
              <a:rPr lang="en-US" sz="4100" dirty="0"/>
              <a:t>Micro-Tom, or </a:t>
            </a:r>
            <a:r>
              <a:rPr lang="en-US" sz="4100" dirty="0" err="1"/>
              <a:t>Microtom</a:t>
            </a:r>
            <a:r>
              <a:rPr lang="en-US" sz="4100" dirty="0"/>
              <a:t>, known scientifically as ‘</a:t>
            </a:r>
            <a:r>
              <a:rPr lang="en-AU" sz="4100" dirty="0"/>
              <a:t>Solanum </a:t>
            </a:r>
            <a:r>
              <a:rPr lang="en-AU" sz="4100" dirty="0" err="1"/>
              <a:t>lycopersicum</a:t>
            </a:r>
            <a:r>
              <a:rPr lang="en-AU" sz="4100" dirty="0"/>
              <a:t>’, </a:t>
            </a:r>
            <a:r>
              <a:rPr lang="en-US" sz="4100" dirty="0"/>
              <a:t>is a smaller cultivar of tomatoes that is known for having a faster life cycle from germination to seed set. It is also more resistant to adverse weather conditions and can therefore survive in areas with such harsh conditions.</a:t>
            </a:r>
          </a:p>
          <a:p>
            <a:r>
              <a:rPr lang="en-US" sz="4100" dirty="0"/>
              <a:t>The study compared how 3 different light regimes, RB (red-blue light), RGB (red-green-blue light), and FL (white fluorescent light) have varying effects on the different characteristics of </a:t>
            </a:r>
            <a:r>
              <a:rPr lang="en-US" sz="4100" dirty="0" err="1"/>
              <a:t>Microtom</a:t>
            </a:r>
            <a:r>
              <a:rPr lang="en-US" sz="4100" dirty="0"/>
              <a:t> plants, i.e., the no.of fruits yielded and their antioxidant capacities, the leaf functional and physical traits, photosynthetic efficiency, and Rubisco and D1 protein expression, etc.</a:t>
            </a:r>
          </a:p>
          <a:p>
            <a:r>
              <a:rPr lang="en-US" sz="4100" dirty="0"/>
              <a:t>My study is a more simplified version of that analysis, which focuses on how manipulating the different light quality regimes affects the antioxidant capacity in </a:t>
            </a:r>
            <a:r>
              <a:rPr lang="en-US" sz="4100" dirty="0" err="1"/>
              <a:t>Microtom</a:t>
            </a:r>
            <a:r>
              <a:rPr lang="en-US" sz="4100" dirty="0"/>
              <a:t> yields. </a:t>
            </a:r>
          </a:p>
          <a:p>
            <a:r>
              <a:rPr lang="en-US" sz="4100" dirty="0"/>
              <a:t>This is because antioxidant properties of plants are particularly useful in helping the plants protect themselves against unstable molecules within them that can damage cells and affect their resistance to diseases, their growth, and subsequently, their crop production. </a:t>
            </a:r>
          </a:p>
          <a:p>
            <a:r>
              <a:rPr lang="en-US" sz="4100" dirty="0"/>
              <a:t>The higher the antioxidation capacity, the more resilient a plant is, and the more likely it is to survive in adverse conditions. </a:t>
            </a:r>
          </a:p>
          <a:p>
            <a:r>
              <a:rPr lang="en-US" sz="4100" dirty="0"/>
              <a:t>Some key experiment design features: </a:t>
            </a:r>
          </a:p>
          <a:p>
            <a:r>
              <a:rPr lang="en-US" sz="4100" dirty="0"/>
              <a:t>1. Replication – the 3 light regimes treatments are replicated on 5 plants per treatment, giving 15 total observations. This also helps to increase the reliability of our findings. </a:t>
            </a:r>
          </a:p>
          <a:p>
            <a:r>
              <a:rPr lang="en-US" sz="4100" dirty="0"/>
              <a:t>2. </a:t>
            </a:r>
            <a:r>
              <a:rPr lang="en-US" sz="4100" dirty="0" err="1"/>
              <a:t>Randomisation</a:t>
            </a:r>
            <a:r>
              <a:rPr lang="en-US" sz="4100" dirty="0"/>
              <a:t> – all plants are cultivated under the same constant conditions except the manipulation of the 3 light regimes. The experiment is set up simply as a standard randomized controlled trial, with only the 3 </a:t>
            </a:r>
            <a:r>
              <a:rPr lang="en-US" sz="4100" dirty="0" err="1"/>
              <a:t>ligh</a:t>
            </a:r>
            <a:r>
              <a:rPr lang="en-US" sz="4100" dirty="0"/>
              <a:t> regimes being randomly assigned to each random seed to avoid any biases. </a:t>
            </a:r>
          </a:p>
          <a:p>
            <a:r>
              <a:rPr lang="en-US" sz="4100" dirty="0"/>
              <a:t>3. Sampling – samples were collected from each fruit for each unit to measure the antioxidant capacity. </a:t>
            </a:r>
          </a:p>
          <a:p>
            <a:r>
              <a:rPr lang="en-US" sz="4100" dirty="0"/>
              <a:t>This study will help to understand how cultivating certain crops in a controlled environment with artificial light sources (i.e., the different light spectrums – RB, RGB, FL) can be beneficial for controlled agricultural production in harsh conditions. </a:t>
            </a:r>
          </a:p>
          <a:p>
            <a:endParaRPr lang="en-US" sz="4000" dirty="0"/>
          </a:p>
        </p:txBody>
      </p:sp>
      <p:sp>
        <p:nvSpPr>
          <p:cNvPr id="9" name="Text Placeholder 8"/>
          <p:cNvSpPr>
            <a:spLocks noGrp="1"/>
          </p:cNvSpPr>
          <p:nvPr>
            <p:ph type="body" sz="quarter" idx="21"/>
          </p:nvPr>
        </p:nvSpPr>
        <p:spPr>
          <a:xfrm>
            <a:off x="14957666" y="5176541"/>
            <a:ext cx="11674234" cy="998077"/>
          </a:xfrm>
        </p:spPr>
        <p:txBody>
          <a:bodyPr/>
          <a:lstStyle/>
          <a:p>
            <a:r>
              <a:rPr lang="en-US" dirty="0"/>
              <a:t>Methods</a:t>
            </a:r>
          </a:p>
        </p:txBody>
      </p:sp>
      <p:sp>
        <p:nvSpPr>
          <p:cNvPr id="18" name="Text Placeholder 17"/>
          <p:cNvSpPr>
            <a:spLocks noGrp="1"/>
          </p:cNvSpPr>
          <p:nvPr>
            <p:ph type="body" sz="quarter" idx="31"/>
          </p:nvPr>
        </p:nvSpPr>
        <p:spPr>
          <a:xfrm>
            <a:off x="29809440" y="5205669"/>
            <a:ext cx="12824459" cy="968949"/>
          </a:xfrm>
        </p:spPr>
        <p:txBody>
          <a:bodyPr/>
          <a:lstStyle/>
          <a:p>
            <a:r>
              <a:rPr lang="en-US"/>
              <a:t>Results</a:t>
            </a:r>
            <a:endParaRPr lang="en-US" dirty="0"/>
          </a:p>
        </p:txBody>
      </p:sp>
      <p:sp>
        <p:nvSpPr>
          <p:cNvPr id="71" name="Text Placeholder 70"/>
          <p:cNvSpPr>
            <a:spLocks noGrp="1"/>
          </p:cNvSpPr>
          <p:nvPr>
            <p:ph type="body" sz="quarter" idx="41"/>
          </p:nvPr>
        </p:nvSpPr>
        <p:spPr>
          <a:xfrm>
            <a:off x="29168757" y="21101214"/>
            <a:ext cx="12241530" cy="874069"/>
          </a:xfrm>
        </p:spPr>
        <p:txBody>
          <a:bodyPr/>
          <a:lstStyle/>
          <a:p>
            <a:r>
              <a:rPr lang="en-US" dirty="0"/>
              <a:t>Conclusion</a:t>
            </a:r>
          </a:p>
        </p:txBody>
      </p:sp>
      <p:sp>
        <p:nvSpPr>
          <p:cNvPr id="15" name="Content Placeholder 14"/>
          <p:cNvSpPr>
            <a:spLocks noGrp="1"/>
          </p:cNvSpPr>
          <p:nvPr>
            <p:ph sz="quarter" idx="42"/>
          </p:nvPr>
        </p:nvSpPr>
        <p:spPr>
          <a:xfrm>
            <a:off x="25953117" y="22152599"/>
            <a:ext cx="17557279" cy="7090448"/>
          </a:xfrm>
        </p:spPr>
        <p:txBody>
          <a:bodyPr>
            <a:normAutofit/>
          </a:bodyPr>
          <a:lstStyle/>
          <a:p>
            <a:r>
              <a:rPr lang="en-US" dirty="0"/>
              <a:t>Based on the results of this simplified version of the original study, it could be inferred that different light regimes (RB,RGB,FL light) do have different effects on the antioxidant capacity of </a:t>
            </a:r>
            <a:r>
              <a:rPr lang="en-US" dirty="0" err="1"/>
              <a:t>Microtom</a:t>
            </a:r>
            <a:r>
              <a:rPr lang="en-US" dirty="0"/>
              <a:t> and similar crops. The study reveals that </a:t>
            </a:r>
            <a:r>
              <a:rPr lang="en-US" dirty="0" err="1"/>
              <a:t>Microtom</a:t>
            </a:r>
            <a:r>
              <a:rPr lang="en-US" dirty="0"/>
              <a:t> seeds grown under RB light produce fruits with the highest antioxidant capacity as compared to those grown under RGB or FL lights, making them more resilient to harsh conditions, damage, or diseases. </a:t>
            </a:r>
          </a:p>
          <a:p>
            <a:r>
              <a:rPr lang="en-US" dirty="0"/>
              <a:t>This study extends our knowledge of artificial and controlled agricultural practice, leading to more efficient </a:t>
            </a:r>
            <a:r>
              <a:rPr lang="en-US" dirty="0" err="1"/>
              <a:t>Microtom</a:t>
            </a:r>
            <a:r>
              <a:rPr lang="en-US" dirty="0"/>
              <a:t> plant cultivation with specific light manipulation for plants with better resilience in arid areas, harsher climates, and can even be extended to use in interplanetary </a:t>
            </a:r>
            <a:r>
              <a:rPr lang="en-US" dirty="0" err="1"/>
              <a:t>sustinence</a:t>
            </a:r>
            <a:r>
              <a:rPr lang="en-US" dirty="0"/>
              <a:t> (space exploration).</a:t>
            </a:r>
          </a:p>
          <a:p>
            <a:r>
              <a:rPr lang="en-US" dirty="0"/>
              <a:t> While the data was easy to find and I was able to reproduce the analysis to get results similar to the original study, in future, larger sample sizes and focusing on continuous RB spectra data to see the optimal RB light range would be advisable for better reproducibility and reliability of  findings, and to improve the ANOVA analysis. </a:t>
            </a:r>
          </a:p>
        </p:txBody>
      </p:sp>
      <p:sp>
        <p:nvSpPr>
          <p:cNvPr id="21" name="Text Placeholder 20"/>
          <p:cNvSpPr>
            <a:spLocks noGrp="1"/>
          </p:cNvSpPr>
          <p:nvPr>
            <p:ph type="body" sz="quarter" idx="34"/>
          </p:nvPr>
        </p:nvSpPr>
        <p:spPr>
          <a:xfrm>
            <a:off x="29168757" y="29250211"/>
            <a:ext cx="13095573" cy="1070306"/>
          </a:xfrm>
        </p:spPr>
        <p:txBody>
          <a:bodyPr/>
          <a:lstStyle/>
          <a:p>
            <a:r>
              <a:rPr lang="en-US" dirty="0"/>
              <a:t>Works Cited</a:t>
            </a:r>
          </a:p>
        </p:txBody>
      </p:sp>
      <p:pic>
        <p:nvPicPr>
          <p:cNvPr id="105" name="Picture Placeholder 104" descr="Closeup of glass beakers" title="Sample Picture"/>
          <p:cNvPicPr>
            <a:picLocks noGrp="1" noChangeAspect="1"/>
          </p:cNvPicPr>
          <p:nvPr>
            <p:ph type="pic" sz="quarter" idx="43"/>
          </p:nvPr>
        </p:nvPicPr>
        <p:blipFill rotWithShape="1">
          <a:blip r:embed="rId2" cstate="print">
            <a:extLst>
              <a:ext uri="{28A0092B-C50C-407E-A947-70E740481C1C}">
                <a14:useLocalDpi xmlns:a14="http://schemas.microsoft.com/office/drawing/2010/main" val="0"/>
              </a:ext>
            </a:extLst>
          </a:blip>
          <a:srcRect/>
          <a:stretch/>
        </p:blipFill>
        <p:spPr/>
      </p:pic>
      <p:sp>
        <p:nvSpPr>
          <p:cNvPr id="74" name="Content Placeholder 73">
            <a:extLst>
              <a:ext uri="{FF2B5EF4-FFF2-40B4-BE49-F238E27FC236}">
                <a16:creationId xmlns:a16="http://schemas.microsoft.com/office/drawing/2014/main" id="{8F87E6CA-DB72-AC25-7B67-B44B154A2E83}"/>
              </a:ext>
            </a:extLst>
          </p:cNvPr>
          <p:cNvSpPr>
            <a:spLocks noGrp="1"/>
          </p:cNvSpPr>
          <p:nvPr>
            <p:ph sz="quarter" idx="27"/>
          </p:nvPr>
        </p:nvSpPr>
        <p:spPr>
          <a:xfrm>
            <a:off x="13662661" y="6256394"/>
            <a:ext cx="13335000" cy="14461823"/>
          </a:xfrm>
        </p:spPr>
        <p:txBody>
          <a:bodyPr>
            <a:normAutofit fontScale="92500" lnSpcReduction="20000"/>
          </a:bodyPr>
          <a:lstStyle/>
          <a:p>
            <a:r>
              <a:rPr lang="en-US" sz="3500" dirty="0" err="1"/>
              <a:t>Microtom</a:t>
            </a:r>
            <a:r>
              <a:rPr lang="en-US" sz="3500" dirty="0"/>
              <a:t> seeds were sown in 3L pots and peat soil and set 10-15cm apart. These were then set under the 3 light regimes using LED diodes for RBG and RB light, and a fluorescent tube for FL light. </a:t>
            </a:r>
          </a:p>
          <a:p>
            <a:r>
              <a:rPr lang="en-US" sz="3500" dirty="0"/>
              <a:t>This treatment was replicated 5 times for each light regime, totaling 15 experiment units. These were each observed from time of sowing to the fruit ripening 100 days later. The experiment was </a:t>
            </a:r>
            <a:r>
              <a:rPr lang="en-AU" sz="3500" dirty="0"/>
              <a:t>set up in a climatized chamber where the following conditions were kept constant to avoid having any uncontrolled/unknown factors influencing the results:</a:t>
            </a:r>
          </a:p>
          <a:p>
            <a:r>
              <a:rPr lang="en-AU" sz="3500" dirty="0"/>
              <a:t>1) photosynthetic photon flux density (PPFD) 300 ± 5 mmol photons m−2 s−1 [for each light treatment]</a:t>
            </a:r>
          </a:p>
          <a:p>
            <a:r>
              <a:rPr lang="en-AU" sz="3500" dirty="0"/>
              <a:t>2) </a:t>
            </a:r>
            <a:r>
              <a:rPr lang="en-US" sz="3500" dirty="0"/>
              <a:t>day/night air temperature 24/18 Celsius</a:t>
            </a:r>
          </a:p>
          <a:p>
            <a:r>
              <a:rPr lang="en-US" sz="3500" dirty="0"/>
              <a:t>3) relative air humidity 60–70%</a:t>
            </a:r>
          </a:p>
          <a:p>
            <a:r>
              <a:rPr lang="en-US" sz="3500" dirty="0"/>
              <a:t>4) photoperiod of 12 h.</a:t>
            </a:r>
          </a:p>
          <a:p>
            <a:r>
              <a:rPr lang="en-AU" sz="3500" dirty="0"/>
              <a:t>5) irrigation at 2-day intervals</a:t>
            </a:r>
          </a:p>
          <a:p>
            <a:r>
              <a:rPr lang="en-AU" sz="3500" dirty="0"/>
              <a:t>6) fertilized with Hoagland’s solution every 2 weeks</a:t>
            </a:r>
          </a:p>
          <a:p>
            <a:r>
              <a:rPr lang="en-US" sz="3500" dirty="0"/>
              <a:t>To measure the antioxidant capacity, 0.250g samples taken out of each fruit were treated with methanol/water solution and assessed by Ferric Reducing Antioxidant Power assay (FRAP). The samples were centrifuged at 20,817g force for 15 min at 4 degrees C, mixed with the FRAP reagents, and incubated in the dark for 1 hr., after which the absorbance amount was read, and the antioxidant capacity was calculated using a Trolox standard curve expressed as mmol Trolox equivalents (g-1 FW)  </a:t>
            </a:r>
          </a:p>
          <a:p>
            <a:r>
              <a:rPr lang="en-US" sz="3500" dirty="0"/>
              <a:t>The antioxidant capacity recorded for each of the 5 units in each light treatment was recorded and using Jamovi, I conducted one-way ANOVA analysis on this data to assess the effect of the different light regimes on the antioxidant capacity. I also conducted post-hoc Tuckey analysis for more insight into the difference in effect for each light regime.</a:t>
            </a:r>
            <a:endParaRPr lang="en-US" sz="4400" dirty="0"/>
          </a:p>
          <a:p>
            <a:r>
              <a:rPr lang="en-US" sz="3500" dirty="0"/>
              <a:t>The dataset was readily available and well laid out with no need for further preparation techniques. </a:t>
            </a:r>
          </a:p>
          <a:p>
            <a:pPr marL="0" indent="0">
              <a:buNone/>
            </a:pPr>
            <a:endParaRPr lang="en-US" sz="4400" dirty="0"/>
          </a:p>
          <a:p>
            <a:pPr marL="0" indent="0">
              <a:buNone/>
            </a:pPr>
            <a:endParaRPr lang="en-US" sz="4400" dirty="0"/>
          </a:p>
        </p:txBody>
      </p:sp>
      <p:pic>
        <p:nvPicPr>
          <p:cNvPr id="84" name="Picture 83">
            <a:extLst>
              <a:ext uri="{FF2B5EF4-FFF2-40B4-BE49-F238E27FC236}">
                <a16:creationId xmlns:a16="http://schemas.microsoft.com/office/drawing/2014/main" id="{4BDDE4F6-FEAC-410D-D002-22B52733A73E}"/>
              </a:ext>
            </a:extLst>
          </p:cNvPr>
          <p:cNvPicPr>
            <a:picLocks noChangeAspect="1"/>
          </p:cNvPicPr>
          <p:nvPr/>
        </p:nvPicPr>
        <p:blipFill>
          <a:blip r:embed="rId3"/>
          <a:stretch>
            <a:fillRect/>
          </a:stretch>
        </p:blipFill>
        <p:spPr>
          <a:xfrm>
            <a:off x="155383" y="25452780"/>
            <a:ext cx="12530003" cy="7051200"/>
          </a:xfrm>
          <a:prstGeom prst="rect">
            <a:avLst/>
          </a:prstGeom>
          <a:ln>
            <a:solidFill>
              <a:schemeClr val="tx1"/>
            </a:solidFill>
          </a:ln>
        </p:spPr>
      </p:pic>
      <p:pic>
        <p:nvPicPr>
          <p:cNvPr id="90" name="Content Placeholder 89">
            <a:extLst>
              <a:ext uri="{FF2B5EF4-FFF2-40B4-BE49-F238E27FC236}">
                <a16:creationId xmlns:a16="http://schemas.microsoft.com/office/drawing/2014/main" id="{C4291A54-E35F-60E5-B00D-1B33ACA13B7D}"/>
              </a:ext>
            </a:extLst>
          </p:cNvPr>
          <p:cNvPicPr>
            <a:picLocks noGrp="1" noChangeAspect="1"/>
          </p:cNvPicPr>
          <p:nvPr>
            <p:ph sz="quarter" idx="32"/>
          </p:nvPr>
        </p:nvPicPr>
        <p:blipFill>
          <a:blip r:embed="rId4"/>
          <a:stretch>
            <a:fillRect/>
          </a:stretch>
        </p:blipFill>
        <p:spPr>
          <a:xfrm>
            <a:off x="14619123" y="20831907"/>
            <a:ext cx="9653181" cy="6460064"/>
          </a:xfrm>
          <a:prstGeom prst="rect">
            <a:avLst/>
          </a:prstGeom>
          <a:ln>
            <a:solidFill>
              <a:schemeClr val="tx1"/>
            </a:solidFill>
          </a:ln>
        </p:spPr>
      </p:pic>
      <p:pic>
        <p:nvPicPr>
          <p:cNvPr id="92" name="Picture 91" descr="A diagram of a light quality treatment&#10;&#10;Description automatically generated">
            <a:extLst>
              <a:ext uri="{FF2B5EF4-FFF2-40B4-BE49-F238E27FC236}">
                <a16:creationId xmlns:a16="http://schemas.microsoft.com/office/drawing/2014/main" id="{C2D61C43-E337-1BE5-9C43-A481ADC6300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308300" y="6276691"/>
            <a:ext cx="14538056" cy="7527444"/>
          </a:xfrm>
          <a:prstGeom prst="rect">
            <a:avLst/>
          </a:prstGeom>
          <a:ln>
            <a:solidFill>
              <a:schemeClr val="tx1"/>
            </a:solidFill>
          </a:ln>
        </p:spPr>
      </p:pic>
      <p:sp>
        <p:nvSpPr>
          <p:cNvPr id="7" name="TextBox 6">
            <a:extLst>
              <a:ext uri="{FF2B5EF4-FFF2-40B4-BE49-F238E27FC236}">
                <a16:creationId xmlns:a16="http://schemas.microsoft.com/office/drawing/2014/main" id="{31F19405-D06D-3167-47A8-99C3CE920A93}"/>
              </a:ext>
            </a:extLst>
          </p:cNvPr>
          <p:cNvSpPr txBox="1"/>
          <p:nvPr/>
        </p:nvSpPr>
        <p:spPr>
          <a:xfrm>
            <a:off x="380802" y="24238275"/>
            <a:ext cx="6134298" cy="1107996"/>
          </a:xfrm>
          <a:prstGeom prst="rect">
            <a:avLst/>
          </a:prstGeom>
          <a:noFill/>
        </p:spPr>
        <p:txBody>
          <a:bodyPr wrap="square" rtlCol="0">
            <a:spAutoFit/>
          </a:bodyPr>
          <a:lstStyle/>
          <a:p>
            <a:r>
              <a:rPr lang="en-US" sz="3600" b="1" u="sng" dirty="0"/>
              <a:t>Experiment</a:t>
            </a:r>
            <a:r>
              <a:rPr lang="en-US" sz="6600" b="1" u="sng" dirty="0"/>
              <a:t> </a:t>
            </a:r>
            <a:r>
              <a:rPr lang="en-US" sz="3600" b="1" u="sng" dirty="0"/>
              <a:t>setup</a:t>
            </a:r>
            <a:r>
              <a:rPr lang="en-US" sz="6600" b="1" u="sng" dirty="0"/>
              <a:t> </a:t>
            </a:r>
            <a:endParaRPr lang="en-AU" sz="6600" b="1" u="sng" dirty="0" err="1"/>
          </a:p>
        </p:txBody>
      </p:sp>
      <p:sp>
        <p:nvSpPr>
          <p:cNvPr id="13" name="TextBox 12">
            <a:extLst>
              <a:ext uri="{FF2B5EF4-FFF2-40B4-BE49-F238E27FC236}">
                <a16:creationId xmlns:a16="http://schemas.microsoft.com/office/drawing/2014/main" id="{D35C31DC-FA34-CFED-7797-CDF7533544A5}"/>
              </a:ext>
            </a:extLst>
          </p:cNvPr>
          <p:cNvSpPr txBox="1"/>
          <p:nvPr/>
        </p:nvSpPr>
        <p:spPr>
          <a:xfrm>
            <a:off x="27553922" y="13961828"/>
            <a:ext cx="15537178" cy="7478970"/>
          </a:xfrm>
          <a:prstGeom prst="rect">
            <a:avLst/>
          </a:prstGeom>
          <a:noFill/>
        </p:spPr>
        <p:txBody>
          <a:bodyPr wrap="square" rtlCol="0">
            <a:spAutoFit/>
          </a:bodyPr>
          <a:lstStyle/>
          <a:p>
            <a:pPr marL="457200" indent="-457200">
              <a:buFont typeface="Arial" panose="020B0604020202020204" pitchFamily="34" charset="0"/>
              <a:buChar char="•"/>
            </a:pPr>
            <a:r>
              <a:rPr lang="en-US" sz="3200" dirty="0"/>
              <a:t>Results from Welch’s one-way ANOVA analysis of the antioxidant capacity for each light treatment showed that treating the experimental units to different light regimes had a statistically significant effect on the differences of means of the antioxidant capacity ( F=144, p &lt;.001). Thus, we could reject the null hypothesis in favor of the alternative hypothesis. </a:t>
            </a:r>
          </a:p>
          <a:p>
            <a:pPr marL="457200" indent="-457200">
              <a:buFont typeface="Arial" panose="020B0604020202020204" pitchFamily="34" charset="0"/>
              <a:buChar char="•"/>
            </a:pPr>
            <a:r>
              <a:rPr lang="en-US" sz="3200" dirty="0"/>
              <a:t>To further compare the individual effects of each light treatment, I conducted post-hoc Tuckey analysis. The mean differences coincided with the original study to show that RB has the highest mean antioxidant capacity in comparison to the 3 light regimes and there is statistically significant differences in antioxidant capacity between all 3 light treatment groups (p &lt;.001). Same can be seen in the boxplots to the left.</a:t>
            </a:r>
          </a:p>
          <a:p>
            <a:pPr marL="457200" indent="-457200">
              <a:buFont typeface="Arial" panose="020B0604020202020204" pitchFamily="34" charset="0"/>
              <a:buChar char="•"/>
            </a:pPr>
            <a:r>
              <a:rPr lang="en-US" sz="3200" dirty="0"/>
              <a:t>Normality was assumed (W=0.925, p=0.227) from Shapiro Wilk test and the Q-Q plot, which showed majority of the points scattered along the diagonal. The variance was also assumed to be homogenous (F=3.11, p=0.081)</a:t>
            </a:r>
          </a:p>
          <a:p>
            <a:endParaRPr lang="en-AU" sz="3200" dirty="0" err="1"/>
          </a:p>
        </p:txBody>
      </p:sp>
      <p:pic>
        <p:nvPicPr>
          <p:cNvPr id="28" name="Picture 27">
            <a:extLst>
              <a:ext uri="{FF2B5EF4-FFF2-40B4-BE49-F238E27FC236}">
                <a16:creationId xmlns:a16="http://schemas.microsoft.com/office/drawing/2014/main" id="{C785BF3C-EEDB-EFF3-0304-209E6D80C474}"/>
              </a:ext>
            </a:extLst>
          </p:cNvPr>
          <p:cNvPicPr>
            <a:picLocks noChangeAspect="1"/>
          </p:cNvPicPr>
          <p:nvPr/>
        </p:nvPicPr>
        <p:blipFill>
          <a:blip r:embed="rId6"/>
          <a:stretch>
            <a:fillRect/>
          </a:stretch>
        </p:blipFill>
        <p:spPr>
          <a:xfrm>
            <a:off x="14722444" y="27405661"/>
            <a:ext cx="9549860" cy="5098319"/>
          </a:xfrm>
          <a:prstGeom prst="rect">
            <a:avLst/>
          </a:prstGeom>
          <a:ln>
            <a:solidFill>
              <a:schemeClr val="tx1"/>
            </a:solidFill>
          </a:ln>
        </p:spPr>
      </p:pic>
      <p:sp>
        <p:nvSpPr>
          <p:cNvPr id="29" name="TextBox 28">
            <a:extLst>
              <a:ext uri="{FF2B5EF4-FFF2-40B4-BE49-F238E27FC236}">
                <a16:creationId xmlns:a16="http://schemas.microsoft.com/office/drawing/2014/main" id="{D940386A-D65D-431B-23CF-6EE17D33541F}"/>
              </a:ext>
            </a:extLst>
          </p:cNvPr>
          <p:cNvSpPr txBox="1"/>
          <p:nvPr/>
        </p:nvSpPr>
        <p:spPr>
          <a:xfrm>
            <a:off x="26365200" y="30320517"/>
            <a:ext cx="17370617" cy="2062103"/>
          </a:xfrm>
          <a:prstGeom prst="rect">
            <a:avLst/>
          </a:prstGeom>
          <a:noFill/>
        </p:spPr>
        <p:txBody>
          <a:bodyPr wrap="square" rtlCol="0">
            <a:spAutoFit/>
          </a:bodyPr>
          <a:lstStyle/>
          <a:p>
            <a:pPr indent="-457200" algn="ctr"/>
            <a:r>
              <a:rPr lang="en-US" sz="3200" dirty="0"/>
              <a:t>Vitale, E., </a:t>
            </a:r>
            <a:r>
              <a:rPr lang="en-US" sz="3200" dirty="0" err="1"/>
              <a:t>Velikova</a:t>
            </a:r>
            <a:r>
              <a:rPr lang="en-US" sz="3200" dirty="0"/>
              <a:t>, V., </a:t>
            </a:r>
            <a:r>
              <a:rPr lang="en-US" sz="3200" dirty="0" err="1"/>
              <a:t>Tsonev</a:t>
            </a:r>
            <a:r>
              <a:rPr lang="en-US" sz="3200" dirty="0"/>
              <a:t>, T., </a:t>
            </a:r>
            <a:r>
              <a:rPr lang="en-US" sz="3200" dirty="0" err="1"/>
              <a:t>Constanzo</a:t>
            </a:r>
            <a:r>
              <a:rPr lang="en-US" sz="3200" dirty="0"/>
              <a:t>, G., Paradiso, R., &amp; </a:t>
            </a:r>
            <a:r>
              <a:rPr lang="en-US" sz="3200" dirty="0" err="1"/>
              <a:t>Arena,C</a:t>
            </a:r>
            <a:r>
              <a:rPr lang="en-US" sz="3200" dirty="0"/>
              <a:t>. (2022). Manipulation of Light Quality is an Effective Tool to Regulate Photosynthetic Capacity and Fruit Antioxidant Properties of Solanum </a:t>
            </a:r>
            <a:r>
              <a:rPr lang="en-US" sz="3200" dirty="0" err="1"/>
              <a:t>Lycopersicum</a:t>
            </a:r>
            <a:r>
              <a:rPr lang="en-US" sz="3200" dirty="0"/>
              <a:t> L. cv. ‘</a:t>
            </a:r>
            <a:r>
              <a:rPr lang="en-US" sz="3200" dirty="0" err="1"/>
              <a:t>Microtom</a:t>
            </a:r>
            <a:r>
              <a:rPr lang="en-US" sz="3200" dirty="0"/>
              <a:t>’ in a Controlled Environment. </a:t>
            </a:r>
            <a:r>
              <a:rPr lang="en-US" sz="3200" i="1" dirty="0"/>
              <a:t>Plant Biology</a:t>
            </a:r>
            <a:r>
              <a:rPr lang="en-US" sz="3200" dirty="0"/>
              <a:t>. https://doi.org/10.7717/peerj.13677</a:t>
            </a:r>
            <a:endParaRPr lang="en-AU" sz="3200" dirty="0" err="1"/>
          </a:p>
        </p:txBody>
      </p:sp>
    </p:spTree>
    <p:extLst>
      <p:ext uri="{BB962C8B-B14F-4D97-AF65-F5344CB8AC3E}">
        <p14:creationId xmlns:p14="http://schemas.microsoft.com/office/powerpoint/2010/main" val="931198942"/>
      </p:ext>
    </p:extLst>
  </p:cSld>
  <p:clrMapOvr>
    <a:masterClrMapping/>
  </p:clrMapOvr>
</p:sld>
</file>

<file path=ppt/theme/theme1.xml><?xml version="1.0" encoding="utf-8"?>
<a:theme xmlns:a="http://schemas.openxmlformats.org/drawingml/2006/main" name="Science Poster">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6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6000" dirty="0" err="1" smtClean="0"/>
        </a:defPPr>
      </a:lstStyle>
    </a:txDef>
  </a:objectDefaults>
  <a:extraClrSchemeLst/>
  <a:extLst>
    <a:ext uri="{05A4C25C-085E-4340-85A3-A5531E510DB2}">
      <thm15:themeFamily xmlns:thm15="http://schemas.microsoft.com/office/thememl/2012/main" name="Presentation2" id="{A3AC1795-03CA-4218-8E9C-394F2C72EB71}" vid="{9E91E023-53D0-48CE-AFD1-CE3DA49243D0}"/>
    </a:ext>
  </a:extLst>
</a:theme>
</file>

<file path=ppt/theme/theme2.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cience Poster">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1669352</Value>
      <Value>1669523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2013-01-21T10:18:00+00:00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ApprovalLog xmlns="4873beb7-5857-4685-be1f-d57550cc96cc" xsi:nil="tru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TP104001342</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875929</LocLastLocAttemptVersionLookup>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LocMarketGroupTiers2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Props1.xml><?xml version="1.0" encoding="utf-8"?>
<ds:datastoreItem xmlns:ds="http://schemas.openxmlformats.org/officeDocument/2006/customXml" ds:itemID="{81D71401-7A50-4150-9E41-8D26D4FD62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B7E175-EA31-4EB5-9BCC-A945A8103674}">
  <ds:schemaRefs>
    <ds:schemaRef ds:uri="http://schemas.microsoft.com/sharepoint/v3/contenttype/forms"/>
  </ds:schemaRefs>
</ds:datastoreItem>
</file>

<file path=customXml/itemProps3.xml><?xml version="1.0" encoding="utf-8"?>
<ds:datastoreItem xmlns:ds="http://schemas.openxmlformats.org/officeDocument/2006/customXml" ds:itemID="{F04C2ADE-A257-45E6-A8A8-A5CFC12AD2E8}">
  <ds:schemaRefs>
    <ds:schemaRef ds:uri="http://purl.org/dc/elements/1.1/"/>
    <ds:schemaRef ds:uri="http://purl.org/dc/terms/"/>
    <ds:schemaRef ds:uri="http://schemas.microsoft.com/office/infopath/2007/PartnerControl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4873beb7-5857-4685-be1f-d57550cc96cc"/>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postertemplate3</Template>
  <TotalTime>1862</TotalTime>
  <Words>1253</Words>
  <Application>Microsoft Office PowerPoint</Application>
  <PresentationFormat>Custom</PresentationFormat>
  <Paragraphs>37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 Light</vt:lpstr>
      <vt:lpstr>Science Poster</vt:lpstr>
      <vt:lpstr>Manipulation of light quality to regulate the photosynthetic and antioxidant capacity of ‘Microtom’ plant : A full experiment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BRUCE OMONDI</dc:creator>
  <cp:lastModifiedBy>BRUCE OMONDI</cp:lastModifiedBy>
  <cp:revision>22</cp:revision>
  <dcterms:created xsi:type="dcterms:W3CDTF">2024-07-11T23:45:36Z</dcterms:created>
  <dcterms:modified xsi:type="dcterms:W3CDTF">2024-07-13T14:39:05Z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